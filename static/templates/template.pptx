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BEB"/>
    <a:srgbClr val="059669"/>
    <a:srgbClr val="79CFCE"/>
    <a:srgbClr val="6EE7B7"/>
    <a:srgbClr val="6FBE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115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he-IL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4"/>
            <c:spPr>
              <a:solidFill>
                <a:srgbClr val="059669"/>
              </a:solidFill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25</c:v>
                </c:pt>
                <c:pt idx="1">
                  <c:v>27</c:v>
                </c:pt>
                <c:pt idx="2">
                  <c:v>28.999999999999996</c:v>
                </c:pt>
                <c:pt idx="3">
                  <c:v>26</c:v>
                </c:pt>
                <c:pt idx="4">
                  <c:v>28.000000000000004</c:v>
                </c:pt>
                <c:pt idx="5">
                  <c:v>25</c:v>
                </c:pt>
                <c:pt idx="6">
                  <c:v>27</c:v>
                </c:pt>
                <c:pt idx="7">
                  <c:v>28.999999999999996</c:v>
                </c:pt>
                <c:pt idx="8">
                  <c:v>26</c:v>
                </c:pt>
                <c:pt idx="9">
                  <c:v>28.000000000000004</c:v>
                </c:pt>
                <c:pt idx="10">
                  <c:v>25</c:v>
                </c:pt>
                <c:pt idx="11">
                  <c:v>27</c:v>
                </c:pt>
                <c:pt idx="12">
                  <c:v>28.999999999999996</c:v>
                </c:pt>
                <c:pt idx="13">
                  <c:v>26</c:v>
                </c:pt>
                <c:pt idx="14">
                  <c:v>28.000000000000004</c:v>
                </c:pt>
                <c:pt idx="15">
                  <c:v>25</c:v>
                </c:pt>
                <c:pt idx="16">
                  <c:v>27</c:v>
                </c:pt>
                <c:pt idx="17">
                  <c:v>28.999999999999996</c:v>
                </c:pt>
                <c:pt idx="18">
                  <c:v>26</c:v>
                </c:pt>
                <c:pt idx="19">
                  <c:v>28.000000000000004</c:v>
                </c:pt>
                <c:pt idx="20">
                  <c:v>25</c:v>
                </c:pt>
                <c:pt idx="21">
                  <c:v>27</c:v>
                </c:pt>
                <c:pt idx="22">
                  <c:v>28.999999999999996</c:v>
                </c:pt>
                <c:pt idx="23">
                  <c:v>26</c:v>
                </c:pt>
                <c:pt idx="24">
                  <c:v>28.000000000000004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650</c:v>
                </c:pt>
                <c:pt idx="1">
                  <c:v>654</c:v>
                </c:pt>
                <c:pt idx="2">
                  <c:v>658</c:v>
                </c:pt>
                <c:pt idx="3">
                  <c:v>662</c:v>
                </c:pt>
                <c:pt idx="4">
                  <c:v>666</c:v>
                </c:pt>
                <c:pt idx="5">
                  <c:v>670</c:v>
                </c:pt>
                <c:pt idx="6">
                  <c:v>674</c:v>
                </c:pt>
                <c:pt idx="7">
                  <c:v>678</c:v>
                </c:pt>
                <c:pt idx="8">
                  <c:v>682</c:v>
                </c:pt>
                <c:pt idx="9">
                  <c:v>686</c:v>
                </c:pt>
                <c:pt idx="10">
                  <c:v>690</c:v>
                </c:pt>
                <c:pt idx="11">
                  <c:v>694</c:v>
                </c:pt>
                <c:pt idx="12">
                  <c:v>698</c:v>
                </c:pt>
                <c:pt idx="13">
                  <c:v>702</c:v>
                </c:pt>
                <c:pt idx="14">
                  <c:v>706</c:v>
                </c:pt>
                <c:pt idx="15">
                  <c:v>710</c:v>
                </c:pt>
                <c:pt idx="16">
                  <c:v>714</c:v>
                </c:pt>
                <c:pt idx="17">
                  <c:v>718</c:v>
                </c:pt>
                <c:pt idx="18">
                  <c:v>722</c:v>
                </c:pt>
                <c:pt idx="19">
                  <c:v>726</c:v>
                </c:pt>
                <c:pt idx="20">
                  <c:v>730</c:v>
                </c:pt>
                <c:pt idx="21">
                  <c:v>734</c:v>
                </c:pt>
                <c:pt idx="22">
                  <c:v>738</c:v>
                </c:pt>
                <c:pt idx="23">
                  <c:v>742</c:v>
                </c:pt>
                <c:pt idx="24">
                  <c:v>746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96-41C1-98F8-2A469672318E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Denied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4"/>
            <c:spPr>
              <a:solidFill>
                <a:srgbClr val="7DD3FC"/>
              </a:solidFill>
            </c:spPr>
          </c:marker>
          <c:xVal>
            <c:numRef>
              <c:f>Sheet1!$A$29:$A$53</c:f>
              <c:numCache>
                <c:formatCode>General</c:formatCode>
                <c:ptCount val="25"/>
                <c:pt idx="0">
                  <c:v>26</c:v>
                </c:pt>
                <c:pt idx="1">
                  <c:v>28.000000000000004</c:v>
                </c:pt>
                <c:pt idx="2">
                  <c:v>25</c:v>
                </c:pt>
                <c:pt idx="3">
                  <c:v>27</c:v>
                </c:pt>
                <c:pt idx="4">
                  <c:v>28.999999999999996</c:v>
                </c:pt>
                <c:pt idx="5">
                  <c:v>26</c:v>
                </c:pt>
                <c:pt idx="6">
                  <c:v>28.000000000000004</c:v>
                </c:pt>
                <c:pt idx="7">
                  <c:v>25</c:v>
                </c:pt>
                <c:pt idx="8">
                  <c:v>27</c:v>
                </c:pt>
                <c:pt idx="9">
                  <c:v>28.999999999999996</c:v>
                </c:pt>
                <c:pt idx="10">
                  <c:v>26</c:v>
                </c:pt>
                <c:pt idx="11">
                  <c:v>28.000000000000004</c:v>
                </c:pt>
                <c:pt idx="12">
                  <c:v>25</c:v>
                </c:pt>
                <c:pt idx="13">
                  <c:v>27</c:v>
                </c:pt>
                <c:pt idx="14">
                  <c:v>28.999999999999996</c:v>
                </c:pt>
                <c:pt idx="15">
                  <c:v>26</c:v>
                </c:pt>
                <c:pt idx="16">
                  <c:v>28.000000000000004</c:v>
                </c:pt>
                <c:pt idx="17">
                  <c:v>25</c:v>
                </c:pt>
                <c:pt idx="18">
                  <c:v>27</c:v>
                </c:pt>
                <c:pt idx="19">
                  <c:v>28.999999999999996</c:v>
                </c:pt>
                <c:pt idx="20">
                  <c:v>26</c:v>
                </c:pt>
                <c:pt idx="21">
                  <c:v>28.000000000000004</c:v>
                </c:pt>
                <c:pt idx="22">
                  <c:v>25</c:v>
                </c:pt>
                <c:pt idx="23">
                  <c:v>27</c:v>
                </c:pt>
                <c:pt idx="24">
                  <c:v>28.999999999999996</c:v>
                </c:pt>
              </c:numCache>
            </c:numRef>
          </c:xVal>
          <c:yVal>
            <c:numRef>
              <c:f>Sheet1!$B$29:$B$53</c:f>
              <c:numCache>
                <c:formatCode>General</c:formatCode>
                <c:ptCount val="25"/>
                <c:pt idx="0">
                  <c:v>652</c:v>
                </c:pt>
                <c:pt idx="1">
                  <c:v>656</c:v>
                </c:pt>
                <c:pt idx="2">
                  <c:v>660</c:v>
                </c:pt>
                <c:pt idx="3">
                  <c:v>664</c:v>
                </c:pt>
                <c:pt idx="4">
                  <c:v>668</c:v>
                </c:pt>
                <c:pt idx="5">
                  <c:v>672</c:v>
                </c:pt>
                <c:pt idx="6">
                  <c:v>676</c:v>
                </c:pt>
                <c:pt idx="7">
                  <c:v>680</c:v>
                </c:pt>
                <c:pt idx="8">
                  <c:v>684</c:v>
                </c:pt>
                <c:pt idx="9">
                  <c:v>688</c:v>
                </c:pt>
                <c:pt idx="10">
                  <c:v>692</c:v>
                </c:pt>
                <c:pt idx="11">
                  <c:v>696</c:v>
                </c:pt>
                <c:pt idx="12">
                  <c:v>700</c:v>
                </c:pt>
                <c:pt idx="13">
                  <c:v>704</c:v>
                </c:pt>
                <c:pt idx="14">
                  <c:v>708</c:v>
                </c:pt>
                <c:pt idx="15">
                  <c:v>712</c:v>
                </c:pt>
                <c:pt idx="16">
                  <c:v>716</c:v>
                </c:pt>
                <c:pt idx="17">
                  <c:v>720</c:v>
                </c:pt>
                <c:pt idx="18">
                  <c:v>724</c:v>
                </c:pt>
                <c:pt idx="19">
                  <c:v>728</c:v>
                </c:pt>
                <c:pt idx="20">
                  <c:v>732</c:v>
                </c:pt>
                <c:pt idx="21">
                  <c:v>736</c:v>
                </c:pt>
                <c:pt idx="22">
                  <c:v>740</c:v>
                </c:pt>
                <c:pt idx="23">
                  <c:v>744</c:v>
                </c:pt>
                <c:pt idx="24">
                  <c:v>748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C96-41C1-98F8-2A46967231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475569"/>
                    </a:solidFill>
                  </a:rPr>
                  <a:t>Debt-to-Income Ratio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475569"/>
                </a:solidFill>
              </a:defRPr>
            </a:pPr>
            <a:endParaRPr lang="he-IL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475569"/>
                    </a:solidFill>
                  </a:rPr>
                  <a:t>Credit Score (FICO)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475569"/>
                </a:solidFill>
              </a:defRPr>
            </a:pPr>
            <a:endParaRPr lang="he-IL"/>
          </a:p>
        </c:txPr>
        <c:crossAx val="-2128940872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he-I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0F172A"/>
                    </a:solidFill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21+ yrs</c:v>
                </c:pt>
                <c:pt idx="1">
                  <c:v>11-20 yrs</c:v>
                </c:pt>
                <c:pt idx="2">
                  <c:v>6-10 yrs</c:v>
                </c:pt>
                <c:pt idx="3">
                  <c:v>3-5 yrs</c:v>
                </c:pt>
                <c:pt idx="4">
                  <c:v>0-2 yrs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50</c:v>
                </c:pt>
                <c:pt idx="3">
                  <c:v>50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32E-44EE-9DFC-397B91E15E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BBF7D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475569"/>
                </a:solidFill>
              </a:defRPr>
            </a:pPr>
            <a:endParaRPr lang="he-I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6EE7B7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&lt;$10k</c:v>
                </c:pt>
                <c:pt idx="1">
                  <c:v>$10-20k</c:v>
                </c:pt>
                <c:pt idx="2">
                  <c:v>$20-30k</c:v>
                </c:pt>
                <c:pt idx="3">
                  <c:v>$30-50k</c:v>
                </c:pt>
                <c:pt idx="4">
                  <c:v>$50-75k</c:v>
                </c:pt>
                <c:pt idx="5">
                  <c:v>$75-100k</c:v>
                </c:pt>
                <c:pt idx="6">
                  <c:v>$100-150k</c:v>
                </c:pt>
                <c:pt idx="7">
                  <c:v>&gt;$150k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15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E73-4A80-A2BE-393971FAF0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Denied</c:v>
                </c:pt>
              </c:strCache>
            </c:strRef>
          </c:tx>
          <c:spPr>
            <a:solidFill>
              <a:srgbClr val="EAB308"/>
            </a:solidFill>
            <a:ln w="12700">
              <a:solidFill>
                <a:srgbClr val="CA8A04"/>
              </a:solidFill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&lt;$10k</c:v>
                </c:pt>
                <c:pt idx="1">
                  <c:v>$10-20k</c:v>
                </c:pt>
                <c:pt idx="2">
                  <c:v>$20-30k</c:v>
                </c:pt>
                <c:pt idx="3">
                  <c:v>$30-50k</c:v>
                </c:pt>
                <c:pt idx="4">
                  <c:v>$50-75k</c:v>
                </c:pt>
                <c:pt idx="5">
                  <c:v>$75-100k</c:v>
                </c:pt>
                <c:pt idx="6">
                  <c:v>$100-150k</c:v>
                </c:pt>
                <c:pt idx="7">
                  <c:v>&gt;$150k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15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CA8A0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E73-4A80-A2BE-393971FAF0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75569"/>
                </a:solidFill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BBF7D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475569"/>
                </a:solidFill>
              </a:defRPr>
            </a:pPr>
            <a:endParaRPr lang="he-IL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60757970804672479"/>
          <c:y val="5.7820829248997625E-2"/>
          <c:w val="0.37327843485066986"/>
          <c:h val="6.870908415761974E-2"/>
        </c:manualLayout>
      </c:layout>
      <c:overlay val="1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he-IL"/>
        </a:p>
      </c:txPr>
    </c:legend>
    <c:plotVisOnly val="1"/>
    <c:dispBlanksAs val="gap"/>
    <c:showDLblsOverMax val="1"/>
  </c:chart>
  <c:spPr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499419" y="798276"/>
            <a:ext cx="6428095" cy="5278272"/>
          </a:xfrm>
          <a:prstGeom prst="roundRect">
            <a:avLst/>
          </a:prstGeom>
          <a:solidFill>
            <a:schemeClr val="bg1">
              <a:alpha val="87000"/>
            </a:schemeClr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90037" y="2123619"/>
            <a:ext cx="5846858" cy="523220"/>
          </a:xfrm>
          <a:prstGeom prst="rect">
            <a:avLst/>
          </a:prstGeom>
          <a:solidFill>
            <a:srgbClr val="059669">
              <a:alpha val="23000"/>
            </a:srgbClr>
          </a:solidFill>
          <a:ln>
            <a:noFill/>
          </a:ln>
          <a:effectLst>
            <a:softEdge rad="127000"/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F172A"/>
                </a:solidFill>
              </a:defRPr>
            </a:lvl1pPr>
          </a:lstStyle>
          <a:p>
            <a:r>
              <a:rPr dirty="0"/>
              <a:t>CREDIVEX Bulk Evaluation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064" y="3304403"/>
            <a:ext cx="3906416" cy="1335557"/>
          </a:xfrm>
          <a:prstGeom prst="roundRect">
            <a:avLst/>
          </a:prstGeom>
          <a:solidFill>
            <a:srgbClr val="D9FBE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059669"/>
                </a:solidFill>
              </a:rPr>
              <a:t>Total Processed: 50</a:t>
            </a:r>
          </a:p>
          <a:p>
            <a:pPr algn="ctr"/>
            <a:r>
              <a:rPr sz="1800" b="1" dirty="0">
                <a:solidFill>
                  <a:srgbClr val="059669"/>
                </a:solidFill>
              </a:rPr>
              <a:t>Native Chart Report</a:t>
            </a:r>
          </a:p>
        </p:txBody>
      </p:sp>
      <p:pic>
        <p:nvPicPr>
          <p:cNvPr id="14" name="Picture 7" descr="credivex_logo_transparent.png">
            <a:extLst>
              <a:ext uri="{FF2B5EF4-FFF2-40B4-BE49-F238E27FC236}">
                <a16:creationId xmlns:a16="http://schemas.microsoft.com/office/drawing/2014/main" id="{F166F43E-77F2-6542-7ADA-EA8D5DC6ED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6894" t="20406" r="17173" b="20491"/>
          <a:stretch>
            <a:fillRect/>
          </a:stretch>
        </p:blipFill>
        <p:spPr>
          <a:xfrm>
            <a:off x="10576560" y="17770"/>
            <a:ext cx="1127760" cy="1010930"/>
          </a:xfrm>
          <a:prstGeom prst="rect">
            <a:avLst/>
          </a:prstGeom>
        </p:spPr>
      </p:pic>
      <p:pic>
        <p:nvPicPr>
          <p:cNvPr id="18" name="Picture 1" descr="credivex_logo_watermark.png">
            <a:extLst>
              <a:ext uri="{FF2B5EF4-FFF2-40B4-BE49-F238E27FC236}">
                <a16:creationId xmlns:a16="http://schemas.microsoft.com/office/drawing/2014/main" id="{922ECD92-FF82-69EC-241B-472C6DF77B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7000"/>
          </a:blip>
          <a:srcRect l="25605" t="16479" r="19917" b="37999"/>
          <a:stretch>
            <a:fillRect/>
          </a:stretch>
        </p:blipFill>
        <p:spPr>
          <a:xfrm>
            <a:off x="2408206" y="675481"/>
            <a:ext cx="6610521" cy="5523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5909481" cy="519980"/>
          </a:xfrm>
          <a:prstGeom prst="rect">
            <a:avLst/>
          </a:prstGeom>
          <a:solidFill>
            <a:srgbClr val="059669">
              <a:alpha val="23000"/>
            </a:srgbClr>
          </a:solidFill>
          <a:ln>
            <a:noFill/>
          </a:ln>
          <a:effectLst>
            <a:softEdge rad="127000"/>
          </a:effectLst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F172A"/>
                </a:solidFill>
              </a:rPr>
              <a:t>Decision Boundary: DTI vs Credit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43" y="1559256"/>
            <a:ext cx="2687507" cy="37394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 Vector Classifier</a:t>
            </a:r>
          </a:p>
          <a:p>
            <a:endParaRPr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sz="1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boundary separates approved candidates (green) from denied candidates (blue) based on their Debt-to-Income ratio and Credit Score.</a:t>
            </a:r>
            <a:r>
              <a:rPr lang="en-US" sz="1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Approval Accuracy: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98.5%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EE7B7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02506" y="1028700"/>
            <a:ext cx="881099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959103"/>
              </p:ext>
            </p:extLst>
          </p:nvPr>
        </p:nvGraphicFramePr>
        <p:xfrm>
          <a:off x="3193765" y="1224710"/>
          <a:ext cx="8401180" cy="5108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7" descr="credivex_logo_transparent.png">
            <a:extLst>
              <a:ext uri="{FF2B5EF4-FFF2-40B4-BE49-F238E27FC236}">
                <a16:creationId xmlns:a16="http://schemas.microsoft.com/office/drawing/2014/main" id="{92550952-BF4C-4856-4F63-0979C9AADE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6894" t="20406" r="17173" b="20491"/>
          <a:stretch>
            <a:fillRect/>
          </a:stretch>
        </p:blipFill>
        <p:spPr>
          <a:xfrm>
            <a:off x="10576560" y="17770"/>
            <a:ext cx="1127760" cy="1010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edivex_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390" y="114300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solidFill>
            <a:srgbClr val="059669">
              <a:alpha val="23000"/>
            </a:srgbClr>
          </a:solidFill>
          <a:ln>
            <a:noFill/>
          </a:ln>
          <a:effectLst>
            <a:softEdge rad="127000"/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F172A"/>
                </a:solidFill>
              </a:defRPr>
            </a:lvl1pPr>
          </a:lstStyle>
          <a:p>
            <a:r>
              <a:rPr dirty="0"/>
              <a:t>Approval Rate by Employment Tenure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80160"/>
          <a:ext cx="10908792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Picture 7" descr="credivex_logo_transparent.png">
            <a:extLst>
              <a:ext uri="{FF2B5EF4-FFF2-40B4-BE49-F238E27FC236}">
                <a16:creationId xmlns:a16="http://schemas.microsoft.com/office/drawing/2014/main" id="{EDA9E831-748E-128A-F587-7D7F70C74E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16894" t="20406" r="17173" b="20491"/>
          <a:stretch>
            <a:fillRect/>
          </a:stretch>
        </p:blipFill>
        <p:spPr>
          <a:xfrm>
            <a:off x="10576560" y="17770"/>
            <a:ext cx="1127760" cy="1010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11716C08-B6C2-ACF1-810A-A04A19234625}"/>
              </a:ext>
            </a:extLst>
          </p:cNvPr>
          <p:cNvSpPr/>
          <p:nvPr/>
        </p:nvSpPr>
        <p:spPr>
          <a:xfrm>
            <a:off x="8644909" y="1097280"/>
            <a:ext cx="3447893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 Approved</a:t>
            </a:r>
          </a:p>
          <a:p>
            <a:pPr algn="ctr"/>
            <a:r>
              <a:rPr lang="he-IL" sz="1600" dirty="0">
                <a:solidFill>
                  <a:srgbClr val="475569"/>
                </a:solidFill>
              </a:rPr>
              <a:t>25</a:t>
            </a:r>
            <a:endParaRPr sz="1600" dirty="0">
              <a:solidFill>
                <a:srgbClr val="47556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solidFill>
            <a:srgbClr val="059669">
              <a:alpha val="23000"/>
            </a:srgbClr>
          </a:solidFill>
          <a:ln>
            <a:noFill/>
          </a:ln>
          <a:effectLst>
            <a:softEdge rad="127000"/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F172A"/>
                </a:solidFill>
              </a:defRPr>
            </a:lvl1pPr>
          </a:lstStyle>
          <a:p>
            <a:r>
              <a:rPr dirty="0"/>
              <a:t>Loan Amount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208" y="859809"/>
            <a:ext cx="7993034" cy="58153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82299"/>
              </p:ext>
            </p:extLst>
          </p:nvPr>
        </p:nvGraphicFramePr>
        <p:xfrm>
          <a:off x="333238" y="1143000"/>
          <a:ext cx="7445986" cy="5387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09900" y="1097280"/>
            <a:ext cx="92336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09899" y="2926080"/>
            <a:ext cx="3447893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dirty="0">
                <a:solidFill>
                  <a:srgbClr val="475569"/>
                </a:solidFill>
              </a:rPr>
              <a:t>Most Requested Bracket</a:t>
            </a:r>
          </a:p>
          <a:p>
            <a:pPr algn="ctr"/>
            <a:r>
              <a:rPr sz="1600" dirty="0">
                <a:solidFill>
                  <a:srgbClr val="475569"/>
                </a:solidFill>
              </a:rPr>
              <a:t>$30-50k</a:t>
            </a:r>
          </a:p>
        </p:txBody>
      </p:sp>
      <p:sp>
        <p:nvSpPr>
          <p:cNvPr id="9" name="Rectangle 8"/>
          <p:cNvSpPr/>
          <p:nvPr/>
        </p:nvSpPr>
        <p:spPr>
          <a:xfrm>
            <a:off x="8609900" y="2926080"/>
            <a:ext cx="92336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09899" y="4754880"/>
            <a:ext cx="3447893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dirty="0">
                <a:solidFill>
                  <a:srgbClr val="475569"/>
                </a:solidFill>
              </a:rPr>
              <a:t>Highest Approval Bracket</a:t>
            </a:r>
          </a:p>
          <a:p>
            <a:pPr algn="ctr"/>
            <a:r>
              <a:rPr sz="1600" dirty="0">
                <a:solidFill>
                  <a:srgbClr val="475569"/>
                </a:solidFill>
              </a:rPr>
              <a:t>$30-50k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09900" y="4754880"/>
            <a:ext cx="92336" cy="16459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7" descr="credivex_logo_transparent.png">
            <a:extLst>
              <a:ext uri="{FF2B5EF4-FFF2-40B4-BE49-F238E27FC236}">
                <a16:creationId xmlns:a16="http://schemas.microsoft.com/office/drawing/2014/main" id="{813EC9E3-262D-5E19-37E2-DCBAD5B6EE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16894" t="20406" r="17173" b="20491"/>
          <a:stretch>
            <a:fillRect/>
          </a:stretch>
        </p:blipFill>
        <p:spPr>
          <a:xfrm>
            <a:off x="10576560" y="17770"/>
            <a:ext cx="1127760" cy="1010930"/>
          </a:xfrm>
          <a:prstGeom prst="rect">
            <a:avLst/>
          </a:prstGeom>
        </p:spPr>
      </p:pic>
      <p:pic>
        <p:nvPicPr>
          <p:cNvPr id="2" name="Picture 1" descr="credivex_logo_watermark.png"/>
          <p:cNvPicPr>
            <a:picLocks noChangeAspect="1"/>
          </p:cNvPicPr>
          <p:nvPr/>
        </p:nvPicPr>
        <p:blipFill>
          <a:blip r:embed="rId4">
            <a:alphaModFix amt="44000"/>
          </a:blip>
          <a:srcRect l="21421" t="18017" r="17303" b="37850"/>
          <a:stretch>
            <a:fillRect/>
          </a:stretch>
        </p:blipFill>
        <p:spPr>
          <a:xfrm>
            <a:off x="960086" y="1115912"/>
            <a:ext cx="6245933" cy="4498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78</Words>
  <Application>Microsoft Office PowerPoint</Application>
  <PresentationFormat>מסך רחב</PresentationFormat>
  <Paragraphs>19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Eyar Yaish</cp:lastModifiedBy>
  <cp:revision>2</cp:revision>
  <dcterms:created xsi:type="dcterms:W3CDTF">2013-01-27T09:14:16Z</dcterms:created>
  <dcterms:modified xsi:type="dcterms:W3CDTF">2026-08-27T13:35:17Z</dcterms:modified>
  <cp:category/>
</cp:coreProperties>
</file>